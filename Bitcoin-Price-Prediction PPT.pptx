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9"/>
  </p:notesMasterIdLst>
  <p:sldIdLst>
    <p:sldId id="256" r:id="rId2"/>
    <p:sldId id="257" r:id="rId3"/>
    <p:sldId id="258" r:id="rId4"/>
    <p:sldId id="259" r:id="rId5"/>
    <p:sldId id="260" r:id="rId6"/>
    <p:sldId id="261" r:id="rId7"/>
    <p:sldId id="263" r:id="rId8"/>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76ACF4-693E-3649-8C79-4EC8B8603192}" v="383" dt="2023-07-06T06:54:15.8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08"/>
    <p:restoredTop sz="95840"/>
  </p:normalViewPr>
  <p:slideViewPr>
    <p:cSldViewPr snapToGrid="0">
      <p:cViewPr>
        <p:scale>
          <a:sx n="118" d="100"/>
          <a:sy n="118" d="100"/>
        </p:scale>
        <p:origin x="464" y="-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9317A-A11D-1E44-B322-CC2D401107EE}" type="datetimeFigureOut">
              <a:rPr lang="en-DE" smtClean="0"/>
              <a:t>06.07.23</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7BFF19-33DD-9344-BFAB-8A167FF1E5F6}" type="slidenum">
              <a:rPr lang="en-DE" smtClean="0"/>
              <a:t>‹#›</a:t>
            </a:fld>
            <a:endParaRPr lang="en-DE"/>
          </a:p>
        </p:txBody>
      </p:sp>
    </p:spTree>
    <p:extLst>
      <p:ext uri="{BB962C8B-B14F-4D97-AF65-F5344CB8AC3E}">
        <p14:creationId xmlns:p14="http://schemas.microsoft.com/office/powerpoint/2010/main" val="643040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fld id="{227BFF19-33DD-9344-BFAB-8A167FF1E5F6}" type="slidenum">
              <a:rPr lang="en-DE" smtClean="0"/>
              <a:t>1</a:t>
            </a:fld>
            <a:endParaRPr lang="en-DE"/>
          </a:p>
        </p:txBody>
      </p:sp>
    </p:spTree>
    <p:extLst>
      <p:ext uri="{BB962C8B-B14F-4D97-AF65-F5344CB8AC3E}">
        <p14:creationId xmlns:p14="http://schemas.microsoft.com/office/powerpoint/2010/main" val="370687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fld id="{227BFF19-33DD-9344-BFAB-8A167FF1E5F6}" type="slidenum">
              <a:rPr lang="en-DE" smtClean="0"/>
              <a:t>2</a:t>
            </a:fld>
            <a:endParaRPr lang="en-DE"/>
          </a:p>
        </p:txBody>
      </p:sp>
    </p:spTree>
    <p:extLst>
      <p:ext uri="{BB962C8B-B14F-4D97-AF65-F5344CB8AC3E}">
        <p14:creationId xmlns:p14="http://schemas.microsoft.com/office/powerpoint/2010/main" val="1024045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7/6/23</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675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7/6/23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15367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7/6/23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1292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7/6/23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85908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7/6/23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50685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7/6/23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26822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7/6/23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11157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7/6/23</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2315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7/6/23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31673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7/6/23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62961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7/6/23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5928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7/6/23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62275699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72" r:id="rId5"/>
    <p:sldLayoutId id="2147483666" r:id="rId6"/>
    <p:sldLayoutId id="2147483667" r:id="rId7"/>
    <p:sldLayoutId id="2147483668" r:id="rId8"/>
    <p:sldLayoutId id="2147483671" r:id="rId9"/>
    <p:sldLayoutId id="2147483669" r:id="rId10"/>
    <p:sldLayoutId id="214748367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5CCBC1-41E3-E59B-9462-3A8852BB7AE0}"/>
              </a:ext>
            </a:extLst>
          </p:cNvPr>
          <p:cNvSpPr>
            <a:spLocks noGrp="1"/>
          </p:cNvSpPr>
          <p:nvPr>
            <p:ph type="ctrTitle"/>
          </p:nvPr>
        </p:nvSpPr>
        <p:spPr>
          <a:xfrm>
            <a:off x="838199" y="1093788"/>
            <a:ext cx="10506455" cy="2967208"/>
          </a:xfrm>
        </p:spPr>
        <p:txBody>
          <a:bodyPr>
            <a:normAutofit/>
          </a:bodyPr>
          <a:lstStyle/>
          <a:p>
            <a:r>
              <a:rPr lang="en-DE" dirty="0">
                <a:latin typeface="Times New Roman" panose="02020603050405020304" pitchFamily="18" charset="0"/>
                <a:cs typeface="Times New Roman" panose="02020603050405020304" pitchFamily="18" charset="0"/>
              </a:rPr>
              <a:t>Bitcoin-Price-Prediction</a:t>
            </a:r>
          </a:p>
        </p:txBody>
      </p:sp>
      <p:sp>
        <p:nvSpPr>
          <p:cNvPr id="3" name="Subtitle 2">
            <a:extLst>
              <a:ext uri="{FF2B5EF4-FFF2-40B4-BE49-F238E27FC236}">
                <a16:creationId xmlns:a16="http://schemas.microsoft.com/office/drawing/2014/main" id="{44A351F5-A799-87FA-E521-1CD061075F81}"/>
              </a:ext>
            </a:extLst>
          </p:cNvPr>
          <p:cNvSpPr>
            <a:spLocks noGrp="1"/>
          </p:cNvSpPr>
          <p:nvPr>
            <p:ph type="subTitle" idx="1"/>
          </p:nvPr>
        </p:nvSpPr>
        <p:spPr>
          <a:xfrm>
            <a:off x="6096000" y="4619624"/>
            <a:ext cx="5251703" cy="1038225"/>
          </a:xfrm>
        </p:spPr>
        <p:txBody>
          <a:bodyPr>
            <a:normAutofit/>
          </a:bodyPr>
          <a:lstStyle/>
          <a:p>
            <a:pPr algn="r"/>
            <a:r>
              <a:rPr lang="en-GB" sz="2400" dirty="0">
                <a:latin typeface="Times New Roman" panose="02020603050405020304" pitchFamily="18" charset="0"/>
                <a:cs typeface="Times New Roman" panose="02020603050405020304" pitchFamily="18" charset="0"/>
              </a:rPr>
              <a:t>                                             U</a:t>
            </a:r>
            <a:r>
              <a:rPr lang="en-DE" sz="2400" dirty="0">
                <a:latin typeface="Times New Roman" panose="02020603050405020304" pitchFamily="18" charset="0"/>
                <a:cs typeface="Times New Roman" panose="02020603050405020304" pitchFamily="18" charset="0"/>
              </a:rPr>
              <a:t>sing LSTM</a:t>
            </a: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8204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5009-518E-8954-2A85-0233C7A6B65E}"/>
              </a:ext>
            </a:extLst>
          </p:cNvPr>
          <p:cNvSpPr>
            <a:spLocks noGrp="1"/>
          </p:cNvSpPr>
          <p:nvPr>
            <p:ph type="title"/>
          </p:nvPr>
        </p:nvSpPr>
        <p:spPr>
          <a:xfrm>
            <a:off x="766652" y="584735"/>
            <a:ext cx="10168128" cy="1179576"/>
          </a:xfrm>
        </p:spPr>
        <p:txBody>
          <a:bodyPr>
            <a:normAutofit/>
          </a:bodyPr>
          <a:lstStyle/>
          <a:p>
            <a:r>
              <a:rPr lang="en-DE" sz="3200"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6D49BB1C-DFAC-2856-AB16-7AF69BD0D53A}"/>
              </a:ext>
            </a:extLst>
          </p:cNvPr>
          <p:cNvSpPr>
            <a:spLocks noGrp="1"/>
          </p:cNvSpPr>
          <p:nvPr>
            <p:ph idx="1"/>
          </p:nvPr>
        </p:nvSpPr>
        <p:spPr>
          <a:xfrm>
            <a:off x="913688" y="2778827"/>
            <a:ext cx="10168128" cy="3702132"/>
          </a:xfrm>
        </p:spPr>
        <p:txBody>
          <a:bodyPr>
            <a:normAutofit/>
          </a:bodyPr>
          <a:lstStyle/>
          <a:p>
            <a:r>
              <a:rPr lang="en-GB" sz="2400" dirty="0">
                <a:latin typeface="Times New Roman" panose="02020603050405020304" pitchFamily="18" charset="0"/>
                <a:cs typeface="Times New Roman" panose="02020603050405020304" pitchFamily="18" charset="0"/>
              </a:rPr>
              <a:t>The goal of this project is to develop an LSTM-based machine learning model that accurately predicts the closing price of Bitcoin  in order to assist investors and traders in making informed decisions. By leveraging the power of LSTM, which excels at capturing sequential dependencies, we aim to improve the precision and reliability of Bitcoin price prediction.</a:t>
            </a:r>
          </a:p>
        </p:txBody>
      </p:sp>
    </p:spTree>
    <p:extLst>
      <p:ext uri="{BB962C8B-B14F-4D97-AF65-F5344CB8AC3E}">
        <p14:creationId xmlns:p14="http://schemas.microsoft.com/office/powerpoint/2010/main" val="75871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D66A8-E497-A1C4-79E1-DBBB4F4EFC57}"/>
              </a:ext>
            </a:extLst>
          </p:cNvPr>
          <p:cNvSpPr>
            <a:spLocks noGrp="1"/>
          </p:cNvSpPr>
          <p:nvPr>
            <p:ph type="title"/>
          </p:nvPr>
        </p:nvSpPr>
        <p:spPr/>
        <p:txBody>
          <a:bodyPr>
            <a:normAutofit/>
          </a:bodyPr>
          <a:lstStyle/>
          <a:p>
            <a:r>
              <a:rPr lang="en-GB" sz="2800" dirty="0">
                <a:latin typeface="Times New Roman" panose="02020603050405020304" pitchFamily="18" charset="0"/>
                <a:cs typeface="Times New Roman" panose="02020603050405020304" pitchFamily="18" charset="0"/>
              </a:rPr>
              <a:t>LSTM(Long-Short Term Memory)</a:t>
            </a:r>
          </a:p>
        </p:txBody>
      </p:sp>
      <p:sp>
        <p:nvSpPr>
          <p:cNvPr id="3" name="Content Placeholder 2">
            <a:extLst>
              <a:ext uri="{FF2B5EF4-FFF2-40B4-BE49-F238E27FC236}">
                <a16:creationId xmlns:a16="http://schemas.microsoft.com/office/drawing/2014/main" id="{D3055CF1-1018-4A35-8C93-7C06A9E9EC91}"/>
              </a:ext>
            </a:extLst>
          </p:cNvPr>
          <p:cNvSpPr>
            <a:spLocks noGrp="1"/>
          </p:cNvSpPr>
          <p:nvPr>
            <p:ph idx="1"/>
          </p:nvPr>
        </p:nvSpPr>
        <p:spPr>
          <a:xfrm>
            <a:off x="5640778" y="2323142"/>
            <a:ext cx="5642917" cy="3849058"/>
          </a:xfrm>
        </p:spPr>
        <p:txBody>
          <a:bodyPr>
            <a:normAutofit/>
          </a:bodyPr>
          <a:lstStyle/>
          <a:p>
            <a:pPr marL="0" indent="0">
              <a:buNone/>
            </a:pPr>
            <a:r>
              <a:rPr lang="en-GB" sz="1800" dirty="0"/>
              <a:t>   </a:t>
            </a:r>
            <a:endParaRPr lang="en-GB" dirty="0"/>
          </a:p>
        </p:txBody>
      </p:sp>
      <p:pic>
        <p:nvPicPr>
          <p:cNvPr id="4" name="Content Placeholder 4" descr="A diagram of a flowchart&#10;&#10;Description automatically generated">
            <a:extLst>
              <a:ext uri="{FF2B5EF4-FFF2-40B4-BE49-F238E27FC236}">
                <a16:creationId xmlns:a16="http://schemas.microsoft.com/office/drawing/2014/main" id="{2B48A6C0-FB7A-D9E0-9A98-DDE55A91911A}"/>
              </a:ext>
            </a:extLst>
          </p:cNvPr>
          <p:cNvPicPr>
            <a:picLocks noChangeAspect="1"/>
          </p:cNvPicPr>
          <p:nvPr/>
        </p:nvPicPr>
        <p:blipFill>
          <a:blip r:embed="rId2"/>
          <a:stretch>
            <a:fillRect/>
          </a:stretch>
        </p:blipFill>
        <p:spPr>
          <a:xfrm>
            <a:off x="6234545" y="2323142"/>
            <a:ext cx="5957455" cy="3662022"/>
          </a:xfrm>
          <a:prstGeom prst="rect">
            <a:avLst/>
          </a:prstGeom>
        </p:spPr>
      </p:pic>
      <p:sp>
        <p:nvSpPr>
          <p:cNvPr id="5" name="TextBox 4">
            <a:extLst>
              <a:ext uri="{FF2B5EF4-FFF2-40B4-BE49-F238E27FC236}">
                <a16:creationId xmlns:a16="http://schemas.microsoft.com/office/drawing/2014/main" id="{7DF77781-82B9-3638-4D9D-58BA2CC7C120}"/>
              </a:ext>
            </a:extLst>
          </p:cNvPr>
          <p:cNvSpPr txBox="1"/>
          <p:nvPr/>
        </p:nvSpPr>
        <p:spPr>
          <a:xfrm>
            <a:off x="605641" y="3035662"/>
            <a:ext cx="5866411" cy="1477328"/>
          </a:xfrm>
          <a:prstGeom prst="rect">
            <a:avLst/>
          </a:prstGeom>
          <a:noFill/>
        </p:spPr>
        <p:txBody>
          <a:bodyPr wrap="square" rtlCol="0">
            <a:spAutoFit/>
          </a:bodyPr>
          <a:lstStyle/>
          <a:p>
            <a:pPr marL="285750" indent="-285750">
              <a:buFont typeface="Arial" panose="020B0604020202020204" pitchFamily="34" charset="0"/>
              <a:buChar char="•"/>
            </a:pPr>
            <a:r>
              <a:rPr lang="en-GB" b="0" i="1" dirty="0">
                <a:solidFill>
                  <a:srgbClr val="333333"/>
                </a:solidFill>
                <a:effectLst/>
                <a:latin typeface="Cambria" panose="02040503050406030204" pitchFamily="18" charset="0"/>
              </a:rPr>
              <a:t>Long Short- Term Memory (LSTM) networks are a modified version of recurrent neural networks.</a:t>
            </a:r>
          </a:p>
          <a:p>
            <a:pPr marL="285750" indent="-285750">
              <a:buFont typeface="Arial" panose="020B0604020202020204" pitchFamily="34" charset="0"/>
              <a:buChar char="•"/>
            </a:pPr>
            <a:r>
              <a:rPr lang="en-GB" i="1" dirty="0">
                <a:solidFill>
                  <a:srgbClr val="333333"/>
                </a:solidFill>
                <a:latin typeface="Cambria" panose="02040503050406030204" pitchFamily="18" charset="0"/>
              </a:rPr>
              <a:t>Specially designed to handle Sequential data, such as time series, speech &amp; text</a:t>
            </a:r>
          </a:p>
          <a:p>
            <a:pPr marL="285750" indent="-285750">
              <a:buFont typeface="Arial" panose="020B0604020202020204" pitchFamily="34" charset="0"/>
              <a:buChar char="•"/>
            </a:pPr>
            <a:r>
              <a:rPr lang="en-GB" i="1" dirty="0">
                <a:solidFill>
                  <a:srgbClr val="333333"/>
                </a:solidFill>
                <a:latin typeface="Cambria" panose="02040503050406030204" pitchFamily="18" charset="0"/>
              </a:rPr>
              <a:t>By default retain the info of long gap period of time.</a:t>
            </a:r>
          </a:p>
        </p:txBody>
      </p:sp>
    </p:spTree>
    <p:extLst>
      <p:ext uri="{BB962C8B-B14F-4D97-AF65-F5344CB8AC3E}">
        <p14:creationId xmlns:p14="http://schemas.microsoft.com/office/powerpoint/2010/main" val="1127756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BFD99-72B7-2AFC-C49D-624472ACAB57}"/>
              </a:ext>
            </a:extLst>
          </p:cNvPr>
          <p:cNvSpPr>
            <a:spLocks noGrp="1"/>
          </p:cNvSpPr>
          <p:nvPr>
            <p:ph type="title"/>
          </p:nvPr>
        </p:nvSpPr>
        <p:spPr/>
        <p:txBody>
          <a:bodyPr>
            <a:normAutofit/>
          </a:bodyPr>
          <a:lstStyle/>
          <a:p>
            <a:r>
              <a:rPr lang="en-GB" sz="3200" dirty="0">
                <a:latin typeface="Times New Roman" panose="02020603050405020304" pitchFamily="18" charset="0"/>
                <a:cs typeface="Times New Roman" panose="02020603050405020304" pitchFamily="18" charset="0"/>
              </a:rPr>
              <a:t>Gates </a:t>
            </a:r>
          </a:p>
        </p:txBody>
      </p:sp>
      <p:sp>
        <p:nvSpPr>
          <p:cNvPr id="3" name="Content Placeholder 2">
            <a:extLst>
              <a:ext uri="{FF2B5EF4-FFF2-40B4-BE49-F238E27FC236}">
                <a16:creationId xmlns:a16="http://schemas.microsoft.com/office/drawing/2014/main" id="{EB62B2CE-0F96-F89B-842A-F24F14821ABE}"/>
              </a:ext>
            </a:extLst>
          </p:cNvPr>
          <p:cNvSpPr>
            <a:spLocks noGrp="1"/>
          </p:cNvSpPr>
          <p:nvPr>
            <p:ph idx="1"/>
          </p:nvPr>
        </p:nvSpPr>
        <p:spPr>
          <a:xfrm>
            <a:off x="901812" y="2774907"/>
            <a:ext cx="10168128" cy="3694176"/>
          </a:xfrm>
        </p:spPr>
        <p:txBody>
          <a:bodyPr>
            <a:normAutofit/>
          </a:bodyPr>
          <a:lstStyle/>
          <a:p>
            <a:r>
              <a:rPr lang="en-GB" sz="1800" dirty="0">
                <a:latin typeface="Times New Roman" panose="02020603050405020304" pitchFamily="18" charset="0"/>
                <a:cs typeface="Times New Roman" panose="02020603050405020304" pitchFamily="18" charset="0"/>
              </a:rPr>
              <a:t>Input gate : determines how much new information should be stored in the memory cell.</a:t>
            </a:r>
          </a:p>
          <a:p>
            <a:r>
              <a:rPr lang="en-GB" sz="1800" dirty="0">
                <a:latin typeface="Times New Roman" panose="02020603050405020304" pitchFamily="18" charset="0"/>
                <a:cs typeface="Times New Roman" panose="02020603050405020304" pitchFamily="18" charset="0"/>
              </a:rPr>
              <a:t>Forget gate : Regulates which information in the memory cell should be discarded or forgotten. </a:t>
            </a:r>
            <a:endParaRPr lang="en-GB" sz="1200" dirty="0">
              <a:solidFill>
                <a:srgbClr val="D1D5DB"/>
              </a:solidFill>
              <a:latin typeface="Söhne"/>
              <a:cs typeface="Times New Roman" panose="02020603050405020304" pitchFamily="18" charset="0"/>
            </a:endParaRPr>
          </a:p>
          <a:p>
            <a:r>
              <a:rPr lang="en-GB" sz="1800" dirty="0">
                <a:latin typeface="Times New Roman" panose="02020603050405020304" pitchFamily="18" charset="0"/>
                <a:cs typeface="Times New Roman" panose="02020603050405020304" pitchFamily="18" charset="0"/>
              </a:rPr>
              <a:t>Output gate : Determines the amount of information to be output from the memory cell.</a:t>
            </a:r>
          </a:p>
          <a:p>
            <a:r>
              <a:rPr lang="en-GB" sz="1800" dirty="0">
                <a:latin typeface="Times New Roman" panose="02020603050405020304" pitchFamily="18" charset="0"/>
                <a:cs typeface="Times New Roman" panose="02020603050405020304" pitchFamily="18" charset="0"/>
              </a:rPr>
              <a:t>Cell state : Long Term Memory - Storage unit that retains information over long sequence.</a:t>
            </a:r>
          </a:p>
          <a:p>
            <a:r>
              <a:rPr lang="en-GB" sz="1800" dirty="0">
                <a:latin typeface="Times New Roman" panose="02020603050405020304" pitchFamily="18" charset="0"/>
                <a:cs typeface="Times New Roman" panose="02020603050405020304" pitchFamily="18" charset="0"/>
              </a:rPr>
              <a:t>Hidden state : Short Term Memory – Represents the output at particular time step.</a:t>
            </a:r>
          </a:p>
          <a:p>
            <a:pPr marL="0" indent="0">
              <a:buNone/>
            </a:pPr>
            <a:endParaRPr lang="en-GB" sz="1200" dirty="0">
              <a:solidFill>
                <a:srgbClr val="D1D5DB"/>
              </a:solidFill>
              <a:latin typeface="Söhne"/>
              <a:cs typeface="Times New Roman" panose="02020603050405020304" pitchFamily="18" charset="0"/>
            </a:endParaRPr>
          </a:p>
          <a:p>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2731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870C2-7892-02F0-2A31-FBA7FB377DCA}"/>
              </a:ext>
            </a:extLst>
          </p:cNvPr>
          <p:cNvSpPr>
            <a:spLocks noGrp="1"/>
          </p:cNvSpPr>
          <p:nvPr>
            <p:ph type="title"/>
          </p:nvPr>
        </p:nvSpPr>
        <p:spPr>
          <a:xfrm>
            <a:off x="842437" y="738644"/>
            <a:ext cx="10168128" cy="935776"/>
          </a:xfrm>
        </p:spPr>
        <p:txBody>
          <a:bodyPr>
            <a:normAutofit/>
          </a:bodyPr>
          <a:lstStyle/>
          <a:p>
            <a:r>
              <a:rPr lang="en-GB" sz="3200" dirty="0">
                <a:latin typeface="Times New Roman" panose="02020603050405020304" pitchFamily="18" charset="0"/>
                <a:cs typeface="Times New Roman" panose="02020603050405020304" pitchFamily="18" charset="0"/>
              </a:rPr>
              <a:t>Packages and Models:</a:t>
            </a:r>
          </a:p>
        </p:txBody>
      </p:sp>
      <p:sp>
        <p:nvSpPr>
          <p:cNvPr id="3" name="Content Placeholder 2">
            <a:extLst>
              <a:ext uri="{FF2B5EF4-FFF2-40B4-BE49-F238E27FC236}">
                <a16:creationId xmlns:a16="http://schemas.microsoft.com/office/drawing/2014/main" id="{803C762C-D155-4EDF-E245-3CCFF656AF57}"/>
              </a:ext>
            </a:extLst>
          </p:cNvPr>
          <p:cNvSpPr>
            <a:spLocks noGrp="1"/>
          </p:cNvSpPr>
          <p:nvPr>
            <p:ph idx="1"/>
          </p:nvPr>
        </p:nvSpPr>
        <p:spPr>
          <a:xfrm>
            <a:off x="546266" y="2042557"/>
            <a:ext cx="11305308" cy="5041075"/>
          </a:xfrm>
        </p:spPr>
        <p:txBody>
          <a:bodyPr>
            <a:normAutofit lnSpcReduction="10000"/>
          </a:bodyPr>
          <a:lstStyle/>
          <a:p>
            <a:r>
              <a:rPr lang="en-GB" sz="1800" dirty="0">
                <a:latin typeface="Times New Roman" panose="02020603050405020304" pitchFamily="18" charset="0"/>
                <a:cs typeface="Times New Roman" panose="02020603050405020304" pitchFamily="18" charset="0"/>
              </a:rPr>
              <a:t>OS : Interacting with Operating systems.</a:t>
            </a:r>
          </a:p>
          <a:p>
            <a:r>
              <a:rPr lang="en-GB" sz="1800" dirty="0">
                <a:latin typeface="Times New Roman" panose="02020603050405020304" pitchFamily="18" charset="0"/>
                <a:cs typeface="Times New Roman" panose="02020603050405020304" pitchFamily="18" charset="0"/>
              </a:rPr>
              <a:t>Pandas : Data manipulation and analysis.</a:t>
            </a:r>
          </a:p>
          <a:p>
            <a:r>
              <a:rPr lang="en-GB" sz="1800" dirty="0" err="1">
                <a:latin typeface="Times New Roman" panose="02020603050405020304" pitchFamily="18" charset="0"/>
                <a:cs typeface="Times New Roman" panose="02020603050405020304" pitchFamily="18" charset="0"/>
              </a:rPr>
              <a:t>Numpy</a:t>
            </a:r>
            <a:r>
              <a:rPr lang="en-GB" sz="1800" dirty="0">
                <a:latin typeface="Times New Roman" panose="02020603050405020304" pitchFamily="18" charset="0"/>
                <a:cs typeface="Times New Roman" panose="02020603050405020304" pitchFamily="18" charset="0"/>
              </a:rPr>
              <a:t> : Numerical operations.</a:t>
            </a:r>
          </a:p>
          <a:p>
            <a:r>
              <a:rPr lang="en-GB" sz="1800" dirty="0" err="1">
                <a:latin typeface="Times New Roman" panose="02020603050405020304" pitchFamily="18" charset="0"/>
                <a:cs typeface="Times New Roman" panose="02020603050405020304" pitchFamily="18" charset="0"/>
              </a:rPr>
              <a:t>Tensorflow</a:t>
            </a:r>
            <a:r>
              <a:rPr lang="en-GB" sz="1800" dirty="0">
                <a:latin typeface="Times New Roman" panose="02020603050405020304" pitchFamily="18" charset="0"/>
                <a:cs typeface="Times New Roman" panose="02020603050405020304" pitchFamily="18" charset="0"/>
              </a:rPr>
              <a:t> : Model building and training in Deep Learning models.</a:t>
            </a:r>
          </a:p>
          <a:p>
            <a:r>
              <a:rPr lang="en-GB" sz="1800" dirty="0" err="1">
                <a:latin typeface="Times New Roman" panose="02020603050405020304" pitchFamily="18" charset="0"/>
                <a:cs typeface="Times New Roman" panose="02020603050405020304" pitchFamily="18" charset="0"/>
              </a:rPr>
              <a:t>Keras</a:t>
            </a:r>
            <a:r>
              <a:rPr lang="en-GB" sz="1800" dirty="0">
                <a:latin typeface="Times New Roman" panose="02020603050405020304" pitchFamily="18" charset="0"/>
                <a:cs typeface="Times New Roman" panose="02020603050405020304" pitchFamily="18" charset="0"/>
              </a:rPr>
              <a:t> : Provides user friendly interface.</a:t>
            </a:r>
          </a:p>
          <a:p>
            <a:r>
              <a:rPr lang="en-GB" sz="1800" dirty="0">
                <a:latin typeface="Times New Roman" panose="02020603050405020304" pitchFamily="18" charset="0"/>
                <a:cs typeface="Times New Roman" panose="02020603050405020304" pitchFamily="18" charset="0"/>
              </a:rPr>
              <a:t>Sequential : Creating sequential models.</a:t>
            </a:r>
          </a:p>
          <a:p>
            <a:r>
              <a:rPr lang="en-GB" sz="1800" dirty="0">
                <a:latin typeface="Times New Roman" panose="02020603050405020304" pitchFamily="18" charset="0"/>
                <a:cs typeface="Times New Roman" panose="02020603050405020304" pitchFamily="18" charset="0"/>
              </a:rPr>
              <a:t>Dense : Fully connected layers in Neural Network. </a:t>
            </a:r>
          </a:p>
          <a:p>
            <a:r>
              <a:rPr lang="en-GB" sz="1800" dirty="0">
                <a:latin typeface="Times New Roman" panose="02020603050405020304" pitchFamily="18" charset="0"/>
                <a:cs typeface="Times New Roman" panose="02020603050405020304" pitchFamily="18" charset="0"/>
              </a:rPr>
              <a:t>Dropout : Sets fraction of input to ‘0’.</a:t>
            </a:r>
          </a:p>
          <a:p>
            <a:r>
              <a:rPr lang="en-GB" sz="1800" dirty="0">
                <a:latin typeface="Times New Roman" panose="02020603050405020304" pitchFamily="18" charset="0"/>
                <a:cs typeface="Times New Roman" panose="02020603050405020304" pitchFamily="18" charset="0"/>
              </a:rPr>
              <a:t>Matplotlib : Creating Visualizations. </a:t>
            </a:r>
          </a:p>
          <a:p>
            <a:r>
              <a:rPr lang="en-GB" sz="1800" dirty="0" err="1">
                <a:latin typeface="Times New Roman" panose="02020603050405020304" pitchFamily="18" charset="0"/>
                <a:cs typeface="Times New Roman" panose="02020603050405020304" pitchFamily="18" charset="0"/>
              </a:rPr>
              <a:t>Sklearn</a:t>
            </a:r>
            <a:r>
              <a:rPr lang="en-GB" sz="1800" dirty="0">
                <a:latin typeface="Times New Roman" panose="02020603050405020304" pitchFamily="18" charset="0"/>
                <a:cs typeface="Times New Roman" panose="02020603050405020304" pitchFamily="18" charset="0"/>
              </a:rPr>
              <a:t> : Provides comprehensive set of tools for Machine Learning tasks.</a:t>
            </a:r>
          </a:p>
          <a:p>
            <a:r>
              <a:rPr lang="en-GB" sz="1800" dirty="0" err="1">
                <a:latin typeface="Times New Roman" panose="02020603050405020304" pitchFamily="18" charset="0"/>
                <a:cs typeface="Times New Roman" panose="02020603050405020304" pitchFamily="18" charset="0"/>
              </a:rPr>
              <a:t>ReLU</a:t>
            </a:r>
            <a:r>
              <a:rPr lang="en-GB" sz="1800" dirty="0">
                <a:latin typeface="Times New Roman" panose="02020603050405020304" pitchFamily="18" charset="0"/>
                <a:cs typeface="Times New Roman" panose="02020603050405020304" pitchFamily="18" charset="0"/>
              </a:rPr>
              <a:t>(Rectified Linear Unit) : Activation function in Neural Network.</a:t>
            </a:r>
          </a:p>
          <a:p>
            <a:r>
              <a:rPr lang="en-GB" sz="1800" dirty="0">
                <a:latin typeface="Times New Roman" panose="02020603050405020304" pitchFamily="18" charset="0"/>
                <a:cs typeface="Times New Roman" panose="02020603050405020304" pitchFamily="18" charset="0"/>
              </a:rPr>
              <a:t>Adam : Optimization algorithm that adapts learning rate during training.</a:t>
            </a:r>
          </a:p>
          <a:p>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6602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EBE2A-9893-F888-9689-C9D9CC0CA1F9}"/>
              </a:ext>
            </a:extLst>
          </p:cNvPr>
          <p:cNvSpPr>
            <a:spLocks noGrp="1"/>
          </p:cNvSpPr>
          <p:nvPr>
            <p:ph type="title"/>
          </p:nvPr>
        </p:nvSpPr>
        <p:spPr/>
        <p:txBody>
          <a:bodyPr>
            <a:normAutofit/>
          </a:bodyPr>
          <a:lstStyle/>
          <a:p>
            <a:r>
              <a:rPr lang="en-GB" sz="3200" dirty="0">
                <a:latin typeface="Times New Roman" panose="02020603050405020304" pitchFamily="18" charset="0"/>
                <a:cs typeface="Times New Roman" panose="02020603050405020304" pitchFamily="18" charset="0"/>
              </a:rPr>
              <a:t>System Architecture</a:t>
            </a:r>
          </a:p>
        </p:txBody>
      </p:sp>
      <p:pic>
        <p:nvPicPr>
          <p:cNvPr id="7" name="Content Placeholder 6" descr="A diagram of a data processing process&#10;&#10;Description automatically generated">
            <a:extLst>
              <a:ext uri="{FF2B5EF4-FFF2-40B4-BE49-F238E27FC236}">
                <a16:creationId xmlns:a16="http://schemas.microsoft.com/office/drawing/2014/main" id="{FCE39971-2019-E7DE-A6CE-0F41E0F921EF}"/>
              </a:ext>
            </a:extLst>
          </p:cNvPr>
          <p:cNvPicPr>
            <a:picLocks noGrp="1" noChangeAspect="1"/>
          </p:cNvPicPr>
          <p:nvPr>
            <p:ph idx="1"/>
          </p:nvPr>
        </p:nvPicPr>
        <p:blipFill>
          <a:blip r:embed="rId2"/>
          <a:stretch>
            <a:fillRect/>
          </a:stretch>
        </p:blipFill>
        <p:spPr>
          <a:xfrm>
            <a:off x="2921330" y="2396160"/>
            <a:ext cx="5142759" cy="3913200"/>
          </a:xfrm>
        </p:spPr>
      </p:pic>
    </p:spTree>
    <p:extLst>
      <p:ext uri="{BB962C8B-B14F-4D97-AF65-F5344CB8AC3E}">
        <p14:creationId xmlns:p14="http://schemas.microsoft.com/office/powerpoint/2010/main" val="2398398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graph&#10;&#10;Description automatically generated">
            <a:extLst>
              <a:ext uri="{FF2B5EF4-FFF2-40B4-BE49-F238E27FC236}">
                <a16:creationId xmlns:a16="http://schemas.microsoft.com/office/drawing/2014/main" id="{D30E50C9-243C-3FA6-2CF6-6663B41849DA}"/>
              </a:ext>
            </a:extLst>
          </p:cNvPr>
          <p:cNvPicPr>
            <a:picLocks noChangeAspect="1"/>
          </p:cNvPicPr>
          <p:nvPr/>
        </p:nvPicPr>
        <p:blipFill>
          <a:blip r:embed="rId2"/>
          <a:stretch>
            <a:fillRect/>
          </a:stretch>
        </p:blipFill>
        <p:spPr>
          <a:xfrm>
            <a:off x="6096000" y="267615"/>
            <a:ext cx="5788728" cy="3277590"/>
          </a:xfrm>
          <a:prstGeom prst="rect">
            <a:avLst/>
          </a:prstGeom>
        </p:spPr>
      </p:pic>
      <p:sp>
        <p:nvSpPr>
          <p:cNvPr id="4" name="TextBox 3">
            <a:extLst>
              <a:ext uri="{FF2B5EF4-FFF2-40B4-BE49-F238E27FC236}">
                <a16:creationId xmlns:a16="http://schemas.microsoft.com/office/drawing/2014/main" id="{412C7785-C22C-B091-1673-2665E524F2FE}"/>
              </a:ext>
            </a:extLst>
          </p:cNvPr>
          <p:cNvSpPr txBox="1"/>
          <p:nvPr/>
        </p:nvSpPr>
        <p:spPr>
          <a:xfrm>
            <a:off x="6137564" y="-17867"/>
            <a:ext cx="5193893" cy="338554"/>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Comparison of original close price vs predicted close price</a:t>
            </a:r>
          </a:p>
        </p:txBody>
      </p:sp>
      <p:pic>
        <p:nvPicPr>
          <p:cNvPr id="5" name="Picture 4" descr="A graph of a graph&#10;&#10;Description automatically generated">
            <a:extLst>
              <a:ext uri="{FF2B5EF4-FFF2-40B4-BE49-F238E27FC236}">
                <a16:creationId xmlns:a16="http://schemas.microsoft.com/office/drawing/2014/main" id="{B4735D12-6CFD-D861-385B-B44852D07FD3}"/>
              </a:ext>
            </a:extLst>
          </p:cNvPr>
          <p:cNvPicPr>
            <a:picLocks noChangeAspect="1"/>
          </p:cNvPicPr>
          <p:nvPr/>
        </p:nvPicPr>
        <p:blipFill>
          <a:blip r:embed="rId3"/>
          <a:stretch>
            <a:fillRect/>
          </a:stretch>
        </p:blipFill>
        <p:spPr>
          <a:xfrm>
            <a:off x="41564" y="35205"/>
            <a:ext cx="6096000" cy="3510000"/>
          </a:xfrm>
          <a:prstGeom prst="rect">
            <a:avLst/>
          </a:prstGeom>
        </p:spPr>
      </p:pic>
      <p:sp>
        <p:nvSpPr>
          <p:cNvPr id="8" name="TextBox 7">
            <a:extLst>
              <a:ext uri="{FF2B5EF4-FFF2-40B4-BE49-F238E27FC236}">
                <a16:creationId xmlns:a16="http://schemas.microsoft.com/office/drawing/2014/main" id="{D6B38182-AED1-1766-9003-42D75F441FBE}"/>
              </a:ext>
            </a:extLst>
          </p:cNvPr>
          <p:cNvSpPr txBox="1"/>
          <p:nvPr/>
        </p:nvSpPr>
        <p:spPr>
          <a:xfrm>
            <a:off x="549451" y="35205"/>
            <a:ext cx="4652236" cy="338554"/>
          </a:xfrm>
          <a:prstGeom prst="rect">
            <a:avLst/>
          </a:prstGeom>
          <a:noFill/>
        </p:spPr>
        <p:txBody>
          <a:bodyPr wrap="none" rtlCol="0">
            <a:spAutoFit/>
          </a:bodyPr>
          <a:lstStyle/>
          <a:p>
            <a:r>
              <a:rPr lang="en-GB" sz="1600" dirty="0">
                <a:latin typeface="Times New Roman" panose="02020603050405020304" pitchFamily="18" charset="0"/>
                <a:cs typeface="Times New Roman" panose="02020603050405020304" pitchFamily="18" charset="0"/>
              </a:rPr>
              <a:t>Considered period to predict Bitcoin Close price-2021</a:t>
            </a:r>
          </a:p>
        </p:txBody>
      </p:sp>
      <p:pic>
        <p:nvPicPr>
          <p:cNvPr id="10" name="Picture 9" descr="A graph with red lines&#10;&#10;Description automatically generated">
            <a:extLst>
              <a:ext uri="{FF2B5EF4-FFF2-40B4-BE49-F238E27FC236}">
                <a16:creationId xmlns:a16="http://schemas.microsoft.com/office/drawing/2014/main" id="{01D2617D-86C4-4147-7EC0-82ECD3A9FC9C}"/>
              </a:ext>
            </a:extLst>
          </p:cNvPr>
          <p:cNvPicPr>
            <a:picLocks noChangeAspect="1"/>
          </p:cNvPicPr>
          <p:nvPr/>
        </p:nvPicPr>
        <p:blipFill>
          <a:blip r:embed="rId4"/>
          <a:stretch>
            <a:fillRect/>
          </a:stretch>
        </p:blipFill>
        <p:spPr>
          <a:xfrm>
            <a:off x="41564" y="3659114"/>
            <a:ext cx="5851997" cy="3200400"/>
          </a:xfrm>
          <a:prstGeom prst="rect">
            <a:avLst/>
          </a:prstGeom>
        </p:spPr>
      </p:pic>
      <p:pic>
        <p:nvPicPr>
          <p:cNvPr id="12" name="Picture 11" descr="A graph showing a line&#10;&#10;Description automatically generated">
            <a:extLst>
              <a:ext uri="{FF2B5EF4-FFF2-40B4-BE49-F238E27FC236}">
                <a16:creationId xmlns:a16="http://schemas.microsoft.com/office/drawing/2014/main" id="{D6FEEB48-F376-D9A6-9FEE-B0DE3F955265}"/>
              </a:ext>
            </a:extLst>
          </p:cNvPr>
          <p:cNvPicPr>
            <a:picLocks noChangeAspect="1"/>
          </p:cNvPicPr>
          <p:nvPr/>
        </p:nvPicPr>
        <p:blipFill>
          <a:blip r:embed="rId5"/>
          <a:stretch>
            <a:fillRect/>
          </a:stretch>
        </p:blipFill>
        <p:spPr>
          <a:xfrm>
            <a:off x="6096000" y="3598277"/>
            <a:ext cx="5687438" cy="3277590"/>
          </a:xfrm>
          <a:prstGeom prst="rect">
            <a:avLst/>
          </a:prstGeom>
        </p:spPr>
      </p:pic>
      <p:sp>
        <p:nvSpPr>
          <p:cNvPr id="14" name="TextBox 13">
            <a:extLst>
              <a:ext uri="{FF2B5EF4-FFF2-40B4-BE49-F238E27FC236}">
                <a16:creationId xmlns:a16="http://schemas.microsoft.com/office/drawing/2014/main" id="{BC5DE6DC-27D9-BF7E-C03D-CFDEC6396C14}"/>
              </a:ext>
            </a:extLst>
          </p:cNvPr>
          <p:cNvSpPr txBox="1"/>
          <p:nvPr/>
        </p:nvSpPr>
        <p:spPr>
          <a:xfrm>
            <a:off x="1527463" y="3659114"/>
            <a:ext cx="2880197" cy="338554"/>
          </a:xfrm>
          <a:prstGeom prst="rect">
            <a:avLst/>
          </a:prstGeom>
          <a:noFill/>
        </p:spPr>
        <p:txBody>
          <a:bodyPr wrap="square">
            <a:spAutoFit/>
          </a:bodyPr>
          <a:lstStyle/>
          <a:p>
            <a:r>
              <a:rPr lang="en-GB" sz="1600" dirty="0">
                <a:latin typeface="Times New Roman" panose="02020603050405020304" pitchFamily="18" charset="0"/>
                <a:cs typeface="Times New Roman" panose="02020603050405020304" pitchFamily="18" charset="0"/>
              </a:rPr>
              <a:t>Last 15 days vs next 30 days</a:t>
            </a:r>
          </a:p>
        </p:txBody>
      </p:sp>
      <p:sp>
        <p:nvSpPr>
          <p:cNvPr id="16" name="TextBox 15">
            <a:extLst>
              <a:ext uri="{FF2B5EF4-FFF2-40B4-BE49-F238E27FC236}">
                <a16:creationId xmlns:a16="http://schemas.microsoft.com/office/drawing/2014/main" id="{866A76F2-56F7-DC32-7EB6-A891903273AF}"/>
              </a:ext>
            </a:extLst>
          </p:cNvPr>
          <p:cNvSpPr txBox="1"/>
          <p:nvPr/>
        </p:nvSpPr>
        <p:spPr>
          <a:xfrm>
            <a:off x="7379460" y="3545205"/>
            <a:ext cx="3494314" cy="338554"/>
          </a:xfrm>
          <a:prstGeom prst="rect">
            <a:avLst/>
          </a:prstGeom>
          <a:noFill/>
        </p:spPr>
        <p:txBody>
          <a:bodyPr wrap="square">
            <a:spAutoFit/>
          </a:bodyPr>
          <a:lstStyle/>
          <a:p>
            <a:r>
              <a:rPr lang="en-GB" sz="1600" dirty="0">
                <a:latin typeface="Times New Roman" panose="02020603050405020304" pitchFamily="18" charset="0"/>
                <a:cs typeface="Times New Roman" panose="02020603050405020304" pitchFamily="18" charset="0"/>
              </a:rPr>
              <a:t>Bitcoin closing price with prediction</a:t>
            </a:r>
          </a:p>
        </p:txBody>
      </p:sp>
    </p:spTree>
    <p:extLst>
      <p:ext uri="{BB962C8B-B14F-4D97-AF65-F5344CB8AC3E}">
        <p14:creationId xmlns:p14="http://schemas.microsoft.com/office/powerpoint/2010/main" val="2889146096"/>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538</TotalTime>
  <Words>338</Words>
  <Application>Microsoft Macintosh PowerPoint</Application>
  <PresentationFormat>Widescreen</PresentationFormat>
  <Paragraphs>35</Paragraphs>
  <Slides>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Avenir Next LT Pro</vt:lpstr>
      <vt:lpstr>Calibri</vt:lpstr>
      <vt:lpstr>Cambria</vt:lpstr>
      <vt:lpstr>Söhne</vt:lpstr>
      <vt:lpstr>Times New Roman</vt:lpstr>
      <vt:lpstr>AccentBoxVTI</vt:lpstr>
      <vt:lpstr>Bitcoin-Price-Prediction</vt:lpstr>
      <vt:lpstr>Problem Statement:</vt:lpstr>
      <vt:lpstr>LSTM(Long-Short Term Memory)</vt:lpstr>
      <vt:lpstr>Gates </vt:lpstr>
      <vt:lpstr>Packages and Models:</vt:lpstr>
      <vt:lpstr>System Architecture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Bitcoin-Price-Prediction</dc:title>
  <dc:creator>Hemanth Koppula</dc:creator>
  <cp:lastModifiedBy>Hemanth Koppula</cp:lastModifiedBy>
  <cp:revision>3</cp:revision>
  <dcterms:created xsi:type="dcterms:W3CDTF">2023-07-05T05:01:45Z</dcterms:created>
  <dcterms:modified xsi:type="dcterms:W3CDTF">2023-07-06T09:37:00Z</dcterms:modified>
</cp:coreProperties>
</file>